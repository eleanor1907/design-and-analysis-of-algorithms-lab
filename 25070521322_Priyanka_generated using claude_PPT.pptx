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Inter Bold" charset="1" panose="02000503000000020004"/>
      <p:regular r:id="rId22"/>
    </p:embeddedFont>
    <p:embeddedFont>
      <p:font typeface="Inter" charset="1" panose="02000503000000020004"/>
      <p:regular r:id="rId23"/>
    </p:embeddedFont>
    <p:embeddedFont>
      <p:font typeface="Roboto Mono" charset="1" panose="00000000000000000000"/>
      <p:regular r:id="rId24"/>
    </p:embeddedFont>
    <p:embeddedFont>
      <p:font typeface="Roboto Mono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429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715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001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287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573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859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145000" y="0"/>
            <a:ext cx="0" cy="1028700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1143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0" y="2286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0" y="3429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0" y="4572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0" y="5715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8001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9144000"/>
            <a:ext cx="18288000" cy="0"/>
          </a:xfrm>
          <a:prstGeom prst="line">
            <a:avLst/>
          </a:prstGeom>
          <a:ln cap="flat" w="9525">
            <a:solidFill>
              <a:srgbClr val="DC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11334750" y="2333625"/>
            <a:ext cx="2286000" cy="619125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3620750" y="2333625"/>
            <a:ext cx="2000250" cy="1762125"/>
          </a:xfrm>
          <a:prstGeom prst="line">
            <a:avLst/>
          </a:prstGeom>
          <a:ln cap="rnd" w="762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>
            <a:off x="11334750" y="2952750"/>
            <a:ext cx="1809750" cy="2381250"/>
          </a:xfrm>
          <a:prstGeom prst="line">
            <a:avLst/>
          </a:prstGeom>
          <a:ln cap="rnd" w="762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flipV="true">
            <a:off x="13144500" y="4095750"/>
            <a:ext cx="2476500" cy="1238250"/>
          </a:xfrm>
          <a:prstGeom prst="line">
            <a:avLst/>
          </a:prstGeom>
          <a:ln cap="rnd" w="762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flipH="true">
            <a:off x="13144500" y="2333625"/>
            <a:ext cx="476250" cy="3000375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0934700" y="2552700"/>
            <a:ext cx="781050" cy="781050"/>
            <a:chOff x="0" y="0"/>
            <a:chExt cx="1041400" cy="1041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39750" y="1933575"/>
            <a:ext cx="781050" cy="781050"/>
            <a:chOff x="0" y="0"/>
            <a:chExt cx="1041400" cy="1041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44450" y="4933950"/>
            <a:ext cx="781050" cy="781050"/>
            <a:chOff x="0" y="0"/>
            <a:chExt cx="1041400" cy="1041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20950" y="3695700"/>
            <a:ext cx="781050" cy="781050"/>
            <a:chOff x="0" y="0"/>
            <a:chExt cx="1041400" cy="1041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52500" y="1466850"/>
            <a:ext cx="9334500" cy="322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780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Dijkstra's</a:t>
            </a:r>
          </a:p>
          <a:p>
            <a:pPr algn="l">
              <a:lnSpc>
                <a:spcPts val="8190"/>
              </a:lnSpc>
            </a:pPr>
            <a:r>
              <a:rPr lang="en-US" sz="780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Shortest Path</a:t>
            </a:r>
          </a:p>
          <a:p>
            <a:pPr algn="l">
              <a:lnSpc>
                <a:spcPts val="8190"/>
              </a:lnSpc>
            </a:pPr>
            <a:r>
              <a:rPr lang="en-US" sz="780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2500" y="5057775"/>
            <a:ext cx="8096250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55A6FF"/>
                </a:solidFill>
                <a:latin typeface="Inter Bold"/>
                <a:ea typeface="Inter Bold"/>
                <a:cs typeface="Inter Bold"/>
                <a:sym typeface="Inter Bold"/>
              </a:rPr>
              <a:t>Finding the Optimal Path Using a Min-Heap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2500" y="5724525"/>
            <a:ext cx="76200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 and Analysis of Algorithms (DAA)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2500" y="6924675"/>
            <a:ext cx="66675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Priyanka Wanjari · 25070521322</a:t>
            </a:r>
          </a:p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D2  ·  Symbiosis Institute Of Technology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573500" y="9001125"/>
            <a:ext cx="7620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The Shortest-Path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676400"/>
            <a:ext cx="146685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Vertices model states; weighted edges model distance, cost, or time. The single-source goal is to minimize the total weight from S to every reachable vertex.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0" y="2581275"/>
            <a:ext cx="571500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37A68"/>
                </a:solidFill>
                <a:latin typeface="Poppins Bold"/>
                <a:ea typeface="Poppins Bold"/>
                <a:cs typeface="Poppins Bold"/>
                <a:sym typeface="Poppins Bold"/>
              </a:rPr>
              <a:t>ROUTE 1  ·  total = 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0" y="5915025"/>
            <a:ext cx="571500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6B7B91"/>
                </a:solidFill>
                <a:latin typeface="Poppins Bold"/>
                <a:ea typeface="Poppins Bold"/>
                <a:cs typeface="Poppins Bold"/>
                <a:sym typeface="Poppins Bold"/>
              </a:rPr>
              <a:t>ROUTE 2  ·  total =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6567" y="3317081"/>
            <a:ext cx="6667500" cy="70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Choose the path with the smallest sum — not necessarily the fewest edges.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668000" y="3905250"/>
            <a:ext cx="2571750" cy="0"/>
          </a:xfrm>
          <a:prstGeom prst="line">
            <a:avLst/>
          </a:prstGeom>
          <a:ln cap="rnd" w="762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>
            <a:off x="14001750" y="3905250"/>
            <a:ext cx="2571750" cy="0"/>
          </a:xfrm>
          <a:prstGeom prst="line">
            <a:avLst/>
          </a:prstGeom>
          <a:ln cap="rnd" w="762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9906000" y="3514725"/>
            <a:ext cx="781050" cy="781050"/>
            <a:chOff x="0" y="0"/>
            <a:chExt cx="1041400" cy="1041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39750" y="3514725"/>
            <a:ext cx="781050" cy="781050"/>
            <a:chOff x="0" y="0"/>
            <a:chExt cx="1041400" cy="104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573500" y="3514725"/>
            <a:ext cx="781050" cy="781050"/>
            <a:chOff x="0" y="0"/>
            <a:chExt cx="1041400" cy="104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58625" y="351472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97125" y="351472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3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0668000" y="7239000"/>
            <a:ext cx="2571750" cy="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14001750" y="7239000"/>
            <a:ext cx="2571750" cy="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906000" y="6848475"/>
            <a:ext cx="781050" cy="781050"/>
            <a:chOff x="0" y="0"/>
            <a:chExt cx="1041400" cy="1041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239750" y="6848475"/>
            <a:ext cx="781050" cy="781050"/>
            <a:chOff x="0" y="0"/>
            <a:chExt cx="1041400" cy="1041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573500" y="6848475"/>
            <a:ext cx="781050" cy="781050"/>
            <a:chOff x="0" y="0"/>
            <a:chExt cx="1041400" cy="1041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858625" y="684847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97125" y="684847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Dijkstra's Algorithm?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28D7E5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3415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971675"/>
            <a:ext cx="7905750" cy="21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greedy algorithm for single-source shortest paths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4448175"/>
            <a:ext cx="7334250" cy="110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DD9E8"/>
                </a:solidFill>
                <a:latin typeface="Inter"/>
                <a:ea typeface="Inter"/>
                <a:cs typeface="Inter"/>
                <a:sym typeface="Inter"/>
              </a:rPr>
              <a:t>Repeatedly finalize the reachable vertex with the smallest known distance, then relax its outgoing edges. Correct when every edge weight is non-negative.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6962775"/>
            <a:ext cx="5715000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28D7E5"/>
                </a:solidFill>
                <a:latin typeface="Poppins Bold"/>
                <a:ea typeface="Poppins Bold"/>
                <a:cs typeface="Poppins Bold"/>
                <a:sym typeface="Poppins Bold"/>
              </a:rPr>
              <a:t>NON-NEGATIVE WEIGHTS ONLY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553950" y="4600575"/>
            <a:ext cx="990600" cy="990600"/>
            <a:chOff x="0" y="0"/>
            <a:chExt cx="1320800" cy="132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0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320800">
                  <a:moveTo>
                    <a:pt x="660400" y="0"/>
                  </a:moveTo>
                  <a:cubicBezTo>
                    <a:pt x="1025129" y="0"/>
                    <a:pt x="1320800" y="295671"/>
                    <a:pt x="1320800" y="660400"/>
                  </a:cubicBezTo>
                  <a:cubicBezTo>
                    <a:pt x="1320800" y="1025129"/>
                    <a:pt x="1025129" y="1320800"/>
                    <a:pt x="660400" y="1320800"/>
                  </a:cubicBezTo>
                  <a:cubicBezTo>
                    <a:pt x="295671" y="1320800"/>
                    <a:pt x="0" y="1025129"/>
                    <a:pt x="0" y="660400"/>
                  </a:cubicBez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208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 flipV="true">
            <a:off x="10725150" y="2586990"/>
            <a:ext cx="2000250" cy="2238375"/>
          </a:xfrm>
          <a:prstGeom prst="line">
            <a:avLst/>
          </a:prstGeom>
          <a:ln cap="rnd" w="66675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10668000" y="2476500"/>
            <a:ext cx="781050" cy="781050"/>
            <a:chOff x="0" y="0"/>
            <a:chExt cx="1041400" cy="104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58625" y="3757613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8D7E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3173442" y="2571750"/>
            <a:ext cx="2286000" cy="2333625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4954250" y="2381250"/>
            <a:ext cx="781050" cy="781050"/>
            <a:chOff x="0" y="0"/>
            <a:chExt cx="1041400" cy="1041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154150" y="380619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8D7E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5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3382625" y="5277580"/>
            <a:ext cx="3143250" cy="1476375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15811500" y="6191250"/>
            <a:ext cx="781050" cy="781050"/>
            <a:chOff x="0" y="0"/>
            <a:chExt cx="1041400" cy="1041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430375" y="5614987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8D7E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7</a:t>
            </a:r>
          </a:p>
        </p:txBody>
      </p:sp>
      <p:sp>
        <p:nvSpPr>
          <p:cNvPr name="AutoShape 28" id="28"/>
          <p:cNvSpPr/>
          <p:nvPr/>
        </p:nvSpPr>
        <p:spPr>
          <a:xfrm flipH="true">
            <a:off x="11468100" y="5286479"/>
            <a:ext cx="1333500" cy="2524125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11334750" y="7239000"/>
            <a:ext cx="781050" cy="781050"/>
            <a:chOff x="0" y="0"/>
            <a:chExt cx="1041400" cy="1041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459752" y="6213238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8D7E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Graph Terminology and Adjacency List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866900"/>
            <a:ext cx="6477000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VERTEX  state or location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EDGE  directed connection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WEIGHT  cost of traversing an edge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ADJACENCY LIST  outgoing neighbors per vertex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0" y="2000250"/>
            <a:ext cx="6858000" cy="3714750"/>
            <a:chOff x="0" y="0"/>
            <a:chExt cx="9144000" cy="495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14213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72750" y="2352675"/>
            <a:ext cx="5715000" cy="189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A: (B, 4), (C, 1)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B: (D, 1)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C: (B, 2), (D, 5)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D: (E, 3)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E: []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500" y="6162675"/>
            <a:ext cx="72390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(B, 4) means an edge A → B of weight 4. This is directed; an undirected graph stores each edge in both endpoints' lists.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2381250" y="5810250"/>
            <a:ext cx="2476500" cy="85725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2381250" y="6667500"/>
            <a:ext cx="2476500" cy="1143000"/>
          </a:xfrm>
          <a:prstGeom prst="line">
            <a:avLst/>
          </a:prstGeom>
          <a:ln cap="rnd" w="381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5619750" y="5810250"/>
            <a:ext cx="2000250" cy="95250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flipV="true">
            <a:off x="5619750" y="6762750"/>
            <a:ext cx="2000250" cy="104775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619250" y="6286500"/>
            <a:ext cx="781050" cy="781050"/>
            <a:chOff x="0" y="0"/>
            <a:chExt cx="1041400" cy="104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57750" y="5429250"/>
            <a:ext cx="781050" cy="781050"/>
            <a:chOff x="0" y="0"/>
            <a:chExt cx="1041400" cy="104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57750" y="7429500"/>
            <a:ext cx="781050" cy="781050"/>
            <a:chOff x="0" y="0"/>
            <a:chExt cx="1041400" cy="1041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0" y="6381750"/>
            <a:ext cx="781050" cy="781050"/>
            <a:chOff x="0" y="0"/>
            <a:chExt cx="1041400" cy="1041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Why Use a Min-Heap?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724025"/>
            <a:ext cx="14763750" cy="38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smallest tentative distance is always at the root. Heap order uses distance — not vertex name.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0046" y="8848725"/>
            <a:ext cx="6667500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55A6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 binary tree · parent key ≤ child keys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3429000" y="3619500"/>
            <a:ext cx="1714500" cy="190500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>
            <a:off x="5143500" y="3619500"/>
            <a:ext cx="1714500" cy="190500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 flipH="true">
            <a:off x="2381250" y="6286500"/>
            <a:ext cx="1047750" cy="123825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4191000" y="2857500"/>
            <a:ext cx="1905000" cy="952500"/>
            <a:chOff x="0" y="0"/>
            <a:chExt cx="2540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00">
                  <a:moveTo>
                    <a:pt x="88900" y="0"/>
                  </a:moveTo>
                  <a:lnTo>
                    <a:pt x="2451100" y="0"/>
                  </a:lnTo>
                  <a:cubicBezTo>
                    <a:pt x="2500198" y="0"/>
                    <a:pt x="2540000" y="39802"/>
                    <a:pt x="2540000" y="88900"/>
                  </a:cubicBezTo>
                  <a:lnTo>
                    <a:pt x="2540000" y="1181100"/>
                  </a:lnTo>
                  <a:cubicBezTo>
                    <a:pt x="2540000" y="1230198"/>
                    <a:pt x="2500198" y="1270000"/>
                    <a:pt x="2451100" y="1270000"/>
                  </a:cubicBezTo>
                  <a:lnTo>
                    <a:pt x="88900" y="1270000"/>
                  </a:lnTo>
                  <a:cubicBezTo>
                    <a:pt x="39802" y="1270000"/>
                    <a:pt x="0" y="1230198"/>
                    <a:pt x="0" y="1181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55A6FF"/>
            </a:solidFill>
            <a:ln w="19050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54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(0, A)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76500" y="5524500"/>
            <a:ext cx="1905000" cy="952500"/>
            <a:chOff x="0" y="0"/>
            <a:chExt cx="2540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4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00">
                  <a:moveTo>
                    <a:pt x="88900" y="0"/>
                  </a:moveTo>
                  <a:lnTo>
                    <a:pt x="2451100" y="0"/>
                  </a:lnTo>
                  <a:cubicBezTo>
                    <a:pt x="2500198" y="0"/>
                    <a:pt x="2540000" y="39802"/>
                    <a:pt x="2540000" y="88900"/>
                  </a:cubicBezTo>
                  <a:lnTo>
                    <a:pt x="2540000" y="1181100"/>
                  </a:lnTo>
                  <a:cubicBezTo>
                    <a:pt x="2540000" y="1230198"/>
                    <a:pt x="2500198" y="1270000"/>
                    <a:pt x="2451100" y="1270000"/>
                  </a:cubicBezTo>
                  <a:lnTo>
                    <a:pt x="88900" y="1270000"/>
                  </a:lnTo>
                  <a:cubicBezTo>
                    <a:pt x="39802" y="1270000"/>
                    <a:pt x="0" y="1230198"/>
                    <a:pt x="0" y="1181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54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(3, C)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05500" y="5524500"/>
            <a:ext cx="1905000" cy="952500"/>
            <a:chOff x="0" y="0"/>
            <a:chExt cx="2540000" cy="127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00">
                  <a:moveTo>
                    <a:pt x="88900" y="0"/>
                  </a:moveTo>
                  <a:lnTo>
                    <a:pt x="2451100" y="0"/>
                  </a:lnTo>
                  <a:cubicBezTo>
                    <a:pt x="2500198" y="0"/>
                    <a:pt x="2540000" y="39802"/>
                    <a:pt x="2540000" y="88900"/>
                  </a:cubicBezTo>
                  <a:lnTo>
                    <a:pt x="2540000" y="1181100"/>
                  </a:lnTo>
                  <a:cubicBezTo>
                    <a:pt x="2540000" y="1230198"/>
                    <a:pt x="2500198" y="1270000"/>
                    <a:pt x="2451100" y="1270000"/>
                  </a:cubicBezTo>
                  <a:lnTo>
                    <a:pt x="88900" y="1270000"/>
                  </a:lnTo>
                  <a:cubicBezTo>
                    <a:pt x="39802" y="1270000"/>
                    <a:pt x="0" y="1230198"/>
                    <a:pt x="0" y="1181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54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(4, B)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8750" y="7524750"/>
            <a:ext cx="1905000" cy="952500"/>
            <a:chOff x="0" y="0"/>
            <a:chExt cx="2540000" cy="127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00">
                  <a:moveTo>
                    <a:pt x="88900" y="0"/>
                  </a:moveTo>
                  <a:lnTo>
                    <a:pt x="2451100" y="0"/>
                  </a:lnTo>
                  <a:cubicBezTo>
                    <a:pt x="2500198" y="0"/>
                    <a:pt x="2540000" y="39802"/>
                    <a:pt x="2540000" y="88900"/>
                  </a:cubicBezTo>
                  <a:lnTo>
                    <a:pt x="2540000" y="1181100"/>
                  </a:lnTo>
                  <a:cubicBezTo>
                    <a:pt x="2540000" y="1230198"/>
                    <a:pt x="2500198" y="1270000"/>
                    <a:pt x="2451100" y="1270000"/>
                  </a:cubicBezTo>
                  <a:lnTo>
                    <a:pt x="88900" y="1270000"/>
                  </a:lnTo>
                  <a:cubicBezTo>
                    <a:pt x="39802" y="1270000"/>
                    <a:pt x="0" y="1230198"/>
                    <a:pt x="0" y="1181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540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(7, D)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06000" y="3048000"/>
            <a:ext cx="6858000" cy="2095500"/>
            <a:chOff x="0" y="0"/>
            <a:chExt cx="9144000" cy="2794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144000" cy="736600"/>
              <a:chOff x="0" y="0"/>
              <a:chExt cx="9144000" cy="736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144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9144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77800" y="117475"/>
              <a:ext cx="2819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Operation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352800" y="117475"/>
              <a:ext cx="2438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6146800" y="117475"/>
              <a:ext cx="2819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Purpose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0" y="736600"/>
              <a:ext cx="9144000" cy="685800"/>
              <a:chOff x="0" y="0"/>
              <a:chExt cx="9144000" cy="685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14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914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77800" y="863600"/>
              <a:ext cx="2819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insert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352800" y="863600"/>
              <a:ext cx="2438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O(log V)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146800" y="863600"/>
              <a:ext cx="2819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add candidate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0" y="1422400"/>
              <a:ext cx="9144000" cy="685800"/>
              <a:chOff x="0" y="0"/>
              <a:chExt cx="9144000" cy="685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14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914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77800" y="1549400"/>
              <a:ext cx="2819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extract_min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352800" y="1549400"/>
              <a:ext cx="2438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O(log V)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6146800" y="1549400"/>
              <a:ext cx="2819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take closest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0" y="2108200"/>
              <a:ext cx="9144000" cy="685800"/>
              <a:chOff x="0" y="0"/>
              <a:chExt cx="9144000" cy="685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14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14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77800" y="2235200"/>
              <a:ext cx="2819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peek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352800" y="2235200"/>
              <a:ext cx="2438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O(1)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6146800" y="2235200"/>
              <a:ext cx="2819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inspect root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The Core Idea: Edge Relaxation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762125"/>
            <a:ext cx="8096250" cy="57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4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candidate = dist[u] + w(u,v)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533650"/>
            <a:ext cx="8572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candidate &lt; dist[v], update dist[v] and parent[v].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4000" y="4105275"/>
            <a:ext cx="190500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6B7B91"/>
                </a:solidFill>
                <a:latin typeface="Poppins Bold"/>
                <a:ea typeface="Poppins Bold"/>
                <a:cs typeface="Poppins Bold"/>
                <a:sym typeface="Poppins Bold"/>
              </a:rPr>
              <a:t>BEFORE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1750" y="4105275"/>
            <a:ext cx="190500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37A68"/>
                </a:solidFill>
                <a:latin typeface="Poppins Bold"/>
                <a:ea typeface="Poppins Bold"/>
                <a:cs typeface="Poppins Bold"/>
                <a:sym typeface="Poppins Bold"/>
              </a:rPr>
              <a:t>AFTER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0" y="7429500"/>
            <a:ext cx="4953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3300">
                <a:solidFill>
                  <a:srgbClr val="8B7CFF"/>
                </a:solidFill>
                <a:latin typeface="Roboto Mono"/>
                <a:ea typeface="Roboto Mono"/>
                <a:cs typeface="Roboto Mono"/>
                <a:sym typeface="Roboto Mono"/>
              </a:rPr>
              <a:t>3 + 2 = 5  &lt;  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8750" y="8772525"/>
            <a:ext cx="7810500" cy="31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3"/>
              </a:lnSpc>
            </a:pPr>
            <a:r>
              <a:rPr lang="en-US" sz="2175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Replace a path only when a shorter one is found.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14500" y="5238750"/>
            <a:ext cx="1143000" cy="1143000"/>
            <a:chOff x="0" y="0"/>
            <a:chExt cx="152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240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857500" y="5810250"/>
            <a:ext cx="2476500" cy="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3810000" y="540067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34000" y="5238750"/>
            <a:ext cx="1143000" cy="1143000"/>
            <a:chOff x="0" y="0"/>
            <a:chExt cx="1524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5240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82250" y="5238750"/>
            <a:ext cx="1143000" cy="1143000"/>
            <a:chOff x="0" y="0"/>
            <a:chExt cx="1524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5240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1525250" y="5810250"/>
            <a:ext cx="2476500" cy="0"/>
          </a:xfrm>
          <a:prstGeom prst="line">
            <a:avLst/>
          </a:prstGeom>
          <a:ln cap="rnd" w="76200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12477750" y="540067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28D7E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001750" y="5238750"/>
            <a:ext cx="1143000" cy="1143000"/>
            <a:chOff x="0" y="0"/>
            <a:chExt cx="15240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524000" cy="15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Initialization and Algorithm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286000"/>
            <a:ext cx="2571750" cy="857250"/>
            <a:chOff x="0" y="0"/>
            <a:chExt cx="3429000" cy="114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9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1077148"/>
                  </a:lnTo>
                  <a:cubicBezTo>
                    <a:pt x="3429000" y="1113517"/>
                    <a:pt x="3399517" y="1143000"/>
                    <a:pt x="3363148" y="1143000"/>
                  </a:cubicBezTo>
                  <a:lnTo>
                    <a:pt x="65852" y="1143000"/>
                  </a:lnTo>
                  <a:cubicBezTo>
                    <a:pt x="29483" y="1143000"/>
                    <a:pt x="0" y="1113517"/>
                    <a:pt x="0" y="1077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429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91000" y="2095500"/>
            <a:ext cx="3429000" cy="1238250"/>
            <a:chOff x="0" y="0"/>
            <a:chExt cx="4572000" cy="165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1601611"/>
                  </a:lnTo>
                  <a:cubicBezTo>
                    <a:pt x="4572000" y="1628888"/>
                    <a:pt x="4549888" y="1651000"/>
                    <a:pt x="4522611" y="1651000"/>
                  </a:cubicBezTo>
                  <a:lnTo>
                    <a:pt x="49389" y="1651000"/>
                  </a:lnTo>
                  <a:cubicBezTo>
                    <a:pt x="22112" y="1651000"/>
                    <a:pt x="0" y="1628888"/>
                    <a:pt x="0" y="1601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4572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Initialize distances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and priority queue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0" y="2190750"/>
            <a:ext cx="2476500" cy="1047750"/>
            <a:chOff x="0" y="0"/>
            <a:chExt cx="3302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302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328615"/>
                  </a:lnTo>
                  <a:cubicBezTo>
                    <a:pt x="3302000" y="1346752"/>
                    <a:pt x="3294795" y="1364146"/>
                    <a:pt x="3281971" y="1376971"/>
                  </a:cubicBezTo>
                  <a:cubicBezTo>
                    <a:pt x="3269146" y="1389795"/>
                    <a:pt x="3251752" y="1397000"/>
                    <a:pt x="3233615" y="1397000"/>
                  </a:cubicBezTo>
                  <a:lnTo>
                    <a:pt x="68385" y="1397000"/>
                  </a:lnTo>
                  <a:cubicBezTo>
                    <a:pt x="50248" y="1397000"/>
                    <a:pt x="32854" y="1389795"/>
                    <a:pt x="20029" y="1376971"/>
                  </a:cubicBezTo>
                  <a:cubicBezTo>
                    <a:pt x="7205" y="1364146"/>
                    <a:pt x="0" y="1346752"/>
                    <a:pt x="0" y="1328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3302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Is Q empty?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20750" y="2286000"/>
            <a:ext cx="2476500" cy="857250"/>
            <a:chOff x="0" y="0"/>
            <a:chExt cx="3302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074615"/>
                  </a:lnTo>
                  <a:cubicBezTo>
                    <a:pt x="3302000" y="1092752"/>
                    <a:pt x="3294795" y="1110146"/>
                    <a:pt x="3281971" y="1122971"/>
                  </a:cubicBezTo>
                  <a:cubicBezTo>
                    <a:pt x="3269146" y="1135795"/>
                    <a:pt x="3251752" y="1143000"/>
                    <a:pt x="3233615" y="1143000"/>
                  </a:cubicBezTo>
                  <a:lnTo>
                    <a:pt x="68385" y="1143000"/>
                  </a:lnTo>
                  <a:cubicBezTo>
                    <a:pt x="50248" y="1143000"/>
                    <a:pt x="32854" y="1135795"/>
                    <a:pt x="20029" y="1122971"/>
                  </a:cubicBezTo>
                  <a:cubicBezTo>
                    <a:pt x="7205" y="1110146"/>
                    <a:pt x="0" y="1092752"/>
                    <a:pt x="0" y="1074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302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STOP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0" y="4667250"/>
            <a:ext cx="2857500" cy="1047750"/>
            <a:chOff x="0" y="0"/>
            <a:chExt cx="3810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337733"/>
                  </a:lnTo>
                  <a:cubicBezTo>
                    <a:pt x="3810000" y="1370465"/>
                    <a:pt x="3783466" y="1397000"/>
                    <a:pt x="3750733" y="1397000"/>
                  </a:cubicBezTo>
                  <a:lnTo>
                    <a:pt x="59267" y="1397000"/>
                  </a:lnTo>
                  <a:cubicBezTo>
                    <a:pt x="26535" y="1397000"/>
                    <a:pt x="0" y="1370465"/>
                    <a:pt x="0" y="1337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810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Extract smallest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(d, u)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2500" y="6858000"/>
            <a:ext cx="2857500" cy="1047750"/>
            <a:chOff x="0" y="0"/>
            <a:chExt cx="3810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337733"/>
                  </a:lnTo>
                  <a:cubicBezTo>
                    <a:pt x="3810000" y="1370465"/>
                    <a:pt x="3783466" y="1397000"/>
                    <a:pt x="3750733" y="1397000"/>
                  </a:cubicBezTo>
                  <a:lnTo>
                    <a:pt x="59267" y="1397000"/>
                  </a:lnTo>
                  <a:cubicBezTo>
                    <a:pt x="26535" y="1397000"/>
                    <a:pt x="0" y="1370465"/>
                    <a:pt x="0" y="1337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3810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Entry stale?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476750" y="6667500"/>
            <a:ext cx="3048000" cy="1238250"/>
            <a:chOff x="0" y="0"/>
            <a:chExt cx="4064000" cy="165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595438"/>
                  </a:lnTo>
                  <a:cubicBezTo>
                    <a:pt x="4064000" y="1626124"/>
                    <a:pt x="4039124" y="1651000"/>
                    <a:pt x="4008438" y="1651000"/>
                  </a:cubicBezTo>
                  <a:lnTo>
                    <a:pt x="55562" y="1651000"/>
                  </a:lnTo>
                  <a:cubicBezTo>
                    <a:pt x="24876" y="1651000"/>
                    <a:pt x="0" y="1626124"/>
                    <a:pt x="0" y="1595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064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Examine outgoing edges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and relax if shorter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750" y="6667500"/>
            <a:ext cx="2571750" cy="1238250"/>
            <a:chOff x="0" y="0"/>
            <a:chExt cx="3429000" cy="165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29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1585148"/>
                  </a:lnTo>
                  <a:cubicBezTo>
                    <a:pt x="3429000" y="1621517"/>
                    <a:pt x="3399517" y="1651000"/>
                    <a:pt x="3363148" y="1651000"/>
                  </a:cubicBezTo>
                  <a:lnTo>
                    <a:pt x="65852" y="1651000"/>
                  </a:lnTo>
                  <a:cubicBezTo>
                    <a:pt x="29483" y="1651000"/>
                    <a:pt x="0" y="1621517"/>
                    <a:pt x="0" y="1585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3429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Insert improved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4213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distances into Q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3524250" y="2714625"/>
            <a:ext cx="666750" cy="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7620000" y="2714625"/>
            <a:ext cx="952500" cy="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>
            <a:off x="11049000" y="2714625"/>
            <a:ext cx="2571750" cy="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>
            <a:off x="9810750" y="3238500"/>
            <a:ext cx="0" cy="142875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10001250" y="5715000"/>
            <a:ext cx="0" cy="114300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H="true">
            <a:off x="7524750" y="7381875"/>
            <a:ext cx="1047750" cy="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3619500" y="7286625"/>
            <a:ext cx="857250" cy="0"/>
          </a:xfrm>
          <a:prstGeom prst="line">
            <a:avLst/>
          </a:prstGeom>
          <a:ln cap="rnd" w="38100">
            <a:solidFill>
              <a:srgbClr val="55A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V="true">
            <a:off x="2333625" y="3143250"/>
            <a:ext cx="6100716" cy="3524250"/>
          </a:xfrm>
          <a:prstGeom prst="line">
            <a:avLst/>
          </a:prstGeom>
          <a:ln cap="flat" w="38100">
            <a:solidFill>
              <a:srgbClr val="8B7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906250" y="2333625"/>
            <a:ext cx="857250" cy="20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425" b="true">
                <a:solidFill>
                  <a:srgbClr val="137A68"/>
                </a:solidFill>
                <a:latin typeface="Poppins Bold"/>
                <a:ea typeface="Poppins Bold"/>
                <a:cs typeface="Poppins Bold"/>
                <a:sym typeface="Poppins Bold"/>
              </a:rPr>
              <a:t>YES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53625" y="3810000"/>
            <a:ext cx="666750" cy="20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425" b="true">
                <a:solidFill>
                  <a:srgbClr val="D85D68"/>
                </a:solidFill>
                <a:latin typeface="Poppins Bold"/>
                <a:ea typeface="Poppins Bold"/>
                <a:cs typeface="Poppins Bold"/>
                <a:sym typeface="Poppins Bold"/>
              </a:rPr>
              <a:t>NO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20500" y="7105650"/>
            <a:ext cx="17145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500" b="true">
                <a:solidFill>
                  <a:srgbClr val="D85D68"/>
                </a:solidFill>
                <a:latin typeface="Poppins Bold"/>
                <a:ea typeface="Poppins Bold"/>
                <a:cs typeface="Poppins Bold"/>
                <a:sym typeface="Poppins Bold"/>
              </a:rPr>
              <a:t>YES → skip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10500" y="7010400"/>
            <a:ext cx="6667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500" b="true">
                <a:solidFill>
                  <a:srgbClr val="137A68"/>
                </a:solidFill>
                <a:latin typeface="Poppins Bold"/>
                <a:ea typeface="Poppins Bold"/>
                <a:cs typeface="Poppins Bold"/>
                <a:sym typeface="Poppins Bold"/>
              </a:rP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Pseudocode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28D7E5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3415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1762125"/>
            <a:ext cx="12192000" cy="7524750"/>
            <a:chOff x="0" y="0"/>
            <a:chExt cx="16256000" cy="1003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56000" cy="10033000"/>
            </a:xfrm>
            <a:custGeom>
              <a:avLst/>
              <a:gdLst/>
              <a:ahLst/>
              <a:cxnLst/>
              <a:rect r="r" b="b" t="t" l="l"/>
              <a:pathLst>
                <a:path h="10033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0D172B"/>
            </a:solidFill>
            <a:ln w="19050" cap="sq">
              <a:solidFill>
                <a:srgbClr val="33415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256000" cy="1007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81125" y="2085975"/>
            <a:ext cx="11430000" cy="518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DIJKSTRA(G, source):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for each vertex v in G: dist[v] = infinity; parent[v] = NIL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dist[source] = 0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create an empty min-priority queue Q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insert (0, source) into Q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while Q is not empty: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(d, u) = extract_min(Q)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if d != dist[u]: continue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for each edge (u, v) with weight w: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  candidate = dist[u] + w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  if candidate &lt; dist[v]: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    dist[v] = candidate; parent[v] = u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      insert (dist[v], v) into Q</a:t>
            </a: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D9E7F7"/>
                </a:solidFill>
                <a:latin typeface="Roboto Mono"/>
                <a:ea typeface="Roboto Mono"/>
                <a:cs typeface="Roboto Mono"/>
                <a:sym typeface="Roboto Mono"/>
              </a:rPr>
              <a:t>  return dist, parent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6500" y="2438400"/>
            <a:ext cx="314325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28D7E5"/>
                </a:solidFill>
                <a:latin typeface="Poppins Bold"/>
                <a:ea typeface="Poppins Bold"/>
                <a:cs typeface="Poppins Bold"/>
                <a:sym typeface="Poppins Bold"/>
              </a:rPr>
              <a:t>01  INITIALIZE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06500" y="4105275"/>
            <a:ext cx="314325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55A6FF"/>
                </a:solidFill>
                <a:latin typeface="Poppins Bold"/>
                <a:ea typeface="Poppins Bold"/>
                <a:cs typeface="Poppins Bold"/>
                <a:sym typeface="Poppins Bold"/>
              </a:rPr>
              <a:t>02  SELECT 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06500" y="5438775"/>
            <a:ext cx="314325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8B7CFF"/>
                </a:solidFill>
                <a:latin typeface="Poppins Bold"/>
                <a:ea typeface="Poppins Bold"/>
                <a:cs typeface="Poppins Bold"/>
                <a:sym typeface="Poppins Bold"/>
              </a:rPr>
              <a:t>03  SKIP STALE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06500" y="6772275"/>
            <a:ext cx="314325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28D7E5"/>
                </a:solidFill>
                <a:latin typeface="Poppins Bold"/>
                <a:ea typeface="Poppins Bold"/>
                <a:cs typeface="Poppins Bold"/>
                <a:sym typeface="Poppins Bold"/>
              </a:rPr>
              <a:t>04  RELAX EDGES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06500" y="8343900"/>
            <a:ext cx="314325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  RETURN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Worked Example: Graph and Initial State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2095500" y="3238500"/>
            <a:ext cx="2952750" cy="114300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3524250" y="372808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4</a:t>
            </a:r>
          </a:p>
        </p:txBody>
      </p:sp>
      <p:sp>
        <p:nvSpPr>
          <p:cNvPr name="AutoShape 9" id="9"/>
          <p:cNvSpPr/>
          <p:nvPr/>
        </p:nvSpPr>
        <p:spPr>
          <a:xfrm>
            <a:off x="2095500" y="4381500"/>
            <a:ext cx="2952750" cy="1809750"/>
          </a:xfrm>
          <a:prstGeom prst="line">
            <a:avLst/>
          </a:prstGeom>
          <a:ln cap="rnd" w="66675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3524250" y="506730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5048250" y="3238500"/>
            <a:ext cx="0" cy="295275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5000625" y="449580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048250" y="3238500"/>
            <a:ext cx="2952750" cy="114300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6477000" y="359092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5048250" y="4381500"/>
            <a:ext cx="2952750" cy="180975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6477000" y="518922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5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001000" y="4381500"/>
            <a:ext cx="2571750" cy="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9239250" y="416242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3</a:t>
            </a:r>
          </a:p>
        </p:txBody>
      </p:sp>
      <p:sp>
        <p:nvSpPr>
          <p:cNvPr name="AutoShape 19" id="19"/>
          <p:cNvSpPr/>
          <p:nvPr/>
        </p:nvSpPr>
        <p:spPr>
          <a:xfrm>
            <a:off x="5048250" y="3238500"/>
            <a:ext cx="5524500" cy="1143000"/>
          </a:xfrm>
          <a:prstGeom prst="line">
            <a:avLst/>
          </a:prstGeom>
          <a:ln cap="rnd" w="38100">
            <a:solidFill>
              <a:srgbClr val="B9C7D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7762875" y="3590925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3415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14500" y="4000500"/>
            <a:ext cx="781050" cy="781050"/>
            <a:chOff x="0" y="0"/>
            <a:chExt cx="1041400" cy="104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667250" y="2857500"/>
            <a:ext cx="781050" cy="781050"/>
            <a:chOff x="0" y="0"/>
            <a:chExt cx="1041400" cy="1041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667250" y="5810250"/>
            <a:ext cx="781050" cy="781050"/>
            <a:chOff x="0" y="0"/>
            <a:chExt cx="10414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620000" y="4000500"/>
            <a:ext cx="781050" cy="781050"/>
            <a:chOff x="0" y="0"/>
            <a:chExt cx="1041400" cy="1041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91750" y="4000500"/>
            <a:ext cx="781050" cy="781050"/>
            <a:chOff x="0" y="0"/>
            <a:chExt cx="1041400" cy="1041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F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1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92000" y="2381250"/>
            <a:ext cx="4762500" cy="3124200"/>
            <a:chOff x="0" y="0"/>
            <a:chExt cx="6350000" cy="41656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350000" cy="736600"/>
              <a:chOff x="0" y="0"/>
              <a:chExt cx="6350000" cy="736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350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350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77800" y="117475"/>
              <a:ext cx="1676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Vertex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209800" y="117475"/>
              <a:ext cx="1676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241800" y="117475"/>
              <a:ext cx="1930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parent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0" y="736600"/>
              <a:ext cx="6350000" cy="685800"/>
              <a:chOff x="0" y="0"/>
              <a:chExt cx="6350000" cy="685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350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6350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77800" y="8636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209800" y="8636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241800" y="8636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0" y="1422400"/>
              <a:ext cx="6350000" cy="685800"/>
              <a:chOff x="0" y="0"/>
              <a:chExt cx="6350000" cy="685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350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6350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77800" y="15494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209800" y="15494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4241800" y="15494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55" id="55"/>
            <p:cNvGrpSpPr/>
            <p:nvPr/>
          </p:nvGrpSpPr>
          <p:grpSpPr>
            <a:xfrm rot="0">
              <a:off x="0" y="2108200"/>
              <a:ext cx="6350000" cy="685800"/>
              <a:chOff x="0" y="0"/>
              <a:chExt cx="6350000" cy="685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350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6350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177800" y="22352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2209800" y="22352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4241800" y="22352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61" id="61"/>
            <p:cNvGrpSpPr/>
            <p:nvPr/>
          </p:nvGrpSpPr>
          <p:grpSpPr>
            <a:xfrm rot="0">
              <a:off x="0" y="2794000"/>
              <a:ext cx="6350000" cy="685800"/>
              <a:chOff x="0" y="0"/>
              <a:chExt cx="6350000" cy="68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6350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6350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77800" y="29210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209800" y="29210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4241800" y="29210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67" id="67"/>
            <p:cNvGrpSpPr/>
            <p:nvPr/>
          </p:nvGrpSpPr>
          <p:grpSpPr>
            <a:xfrm rot="0">
              <a:off x="0" y="3479800"/>
              <a:ext cx="6350000" cy="685800"/>
              <a:chOff x="0" y="0"/>
              <a:chExt cx="6350000" cy="685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6350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6350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177800" y="36068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2209800" y="3606800"/>
              <a:ext cx="1676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4241800" y="36068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52500" y="1819275"/>
            <a:ext cx="8572500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55A6FF"/>
                </a:solidFill>
                <a:latin typeface="Poppins Bold"/>
                <a:ea typeface="Poppins Bold"/>
                <a:cs typeface="Poppins Bold"/>
                <a:sym typeface="Poppins Bold"/>
              </a:rPr>
              <a:t>SOURCE A  ·  all weights non-negative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92000" y="7115175"/>
            <a:ext cx="47625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Initial priority queue   (0, A)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2500" y="8267700"/>
            <a:ext cx="38100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6B7B91"/>
                </a:solidFill>
                <a:latin typeface="Inter"/>
                <a:ea typeface="Inter"/>
                <a:cs typeface="Inter"/>
                <a:sym typeface="Inter"/>
              </a:rPr>
              <a:t>7 directed edges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Execution: Iterations 1 and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58250" y="1762125"/>
            <a:ext cx="19050" cy="7524750"/>
            <a:chOff x="0" y="0"/>
            <a:chExt cx="25400" cy="1003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10033000"/>
            </a:xfrm>
            <a:custGeom>
              <a:avLst/>
              <a:gdLst/>
              <a:ahLst/>
              <a:cxnLst/>
              <a:rect r="r" b="b" t="t" l="l"/>
              <a:pathLst>
                <a:path h="10033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400" cy="1007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52500" y="1819275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2100" b="true">
                <a:solidFill>
                  <a:srgbClr val="55A6FF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2305050"/>
            <a:ext cx="7239000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extract (0, A)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A→B: 0 + 4 = 4  ·  parent A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A→C: 0 + 1 = 1  ·  parent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4533900"/>
            <a:ext cx="7239000" cy="28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true">
                <a:solidFill>
                  <a:srgbClr val="8B7CFF"/>
                </a:solidFill>
                <a:latin typeface="Poppins Bold"/>
                <a:ea typeface="Poppins Bold"/>
                <a:cs typeface="Poppins Bold"/>
                <a:sym typeface="Poppins Bold"/>
              </a:rPr>
              <a:t>Q = (1, C), (4, B)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0250" y="1819275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2100" b="true">
                <a:solidFill>
                  <a:srgbClr val="55A6FF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20250" y="2305050"/>
            <a:ext cx="7239000" cy="120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extract (1, C)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C→B: 1 + 2 = 3 &lt; 4  → update</a:t>
            </a:r>
          </a:p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14213D"/>
                </a:solidFill>
                <a:latin typeface="Roboto Mono"/>
                <a:ea typeface="Roboto Mono"/>
                <a:cs typeface="Roboto Mono"/>
                <a:sym typeface="Roboto Mono"/>
              </a:rPr>
              <a:t>C→D: 1 + 5 = 6  → discover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0250" y="4533900"/>
            <a:ext cx="723900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8B7CFF"/>
                </a:solidFill>
                <a:latin typeface="Poppins Bold"/>
                <a:ea typeface="Poppins Bold"/>
                <a:cs typeface="Poppins Bold"/>
                <a:sym typeface="Poppins Bold"/>
              </a:rPr>
              <a:t>Q = (3, B), (4, B) stale, (6, 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0250" y="8801100"/>
            <a:ext cx="72390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old (4, B) remains in the lazy heap — it will be skipped later.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2500" y="5572125"/>
            <a:ext cx="7239000" cy="3124200"/>
            <a:chOff x="0" y="0"/>
            <a:chExt cx="9652000" cy="41656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652000" cy="736600"/>
              <a:chOff x="0" y="0"/>
              <a:chExt cx="9652000" cy="7366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652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652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77800" y="117475"/>
              <a:ext cx="2057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Vertex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590800" y="117475"/>
              <a:ext cx="2057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03800" y="117475"/>
              <a:ext cx="4470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parent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736600"/>
              <a:ext cx="9652000" cy="685800"/>
              <a:chOff x="0" y="0"/>
              <a:chExt cx="9652000" cy="685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77800" y="8636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590800" y="8636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03800" y="8636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1422400"/>
              <a:ext cx="9652000" cy="685800"/>
              <a:chOff x="0" y="0"/>
              <a:chExt cx="9652000" cy="685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77800" y="15494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590800" y="15494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003800" y="15494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0" y="2108200"/>
              <a:ext cx="9652000" cy="685800"/>
              <a:chOff x="0" y="0"/>
              <a:chExt cx="9652000" cy="685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77800" y="22352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590800" y="22352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003800" y="22352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2794000"/>
              <a:ext cx="9652000" cy="685800"/>
              <a:chOff x="0" y="0"/>
              <a:chExt cx="9652000" cy="685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77800" y="29210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590800" y="29210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003800" y="29210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0" y="3479800"/>
              <a:ext cx="9652000" cy="685800"/>
              <a:chOff x="0" y="0"/>
              <a:chExt cx="9652000" cy="685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77800" y="36068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590800" y="36068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5003800" y="36068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20250" y="5572125"/>
            <a:ext cx="7239000" cy="3124200"/>
            <a:chOff x="0" y="0"/>
            <a:chExt cx="9652000" cy="41656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9652000" cy="736600"/>
              <a:chOff x="0" y="0"/>
              <a:chExt cx="9652000" cy="7366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652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9652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177800" y="117475"/>
              <a:ext cx="2057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Vertex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2590800" y="117475"/>
              <a:ext cx="2057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5003800" y="117475"/>
              <a:ext cx="4470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parent</a:t>
              </a:r>
            </a:p>
          </p:txBody>
        </p:sp>
        <p:grpSp>
          <p:nvGrpSpPr>
            <p:cNvPr name="Group 61" id="61"/>
            <p:cNvGrpSpPr/>
            <p:nvPr/>
          </p:nvGrpSpPr>
          <p:grpSpPr>
            <a:xfrm rot="0">
              <a:off x="0" y="736600"/>
              <a:ext cx="9652000" cy="685800"/>
              <a:chOff x="0" y="0"/>
              <a:chExt cx="9652000" cy="685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77800" y="8636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590800" y="8636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5003800" y="8636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67" id="67"/>
            <p:cNvGrpSpPr/>
            <p:nvPr/>
          </p:nvGrpSpPr>
          <p:grpSpPr>
            <a:xfrm rot="0">
              <a:off x="0" y="1422400"/>
              <a:ext cx="9652000" cy="685800"/>
              <a:chOff x="0" y="0"/>
              <a:chExt cx="9652000" cy="685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177800" y="15494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2590800" y="15494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5003800" y="15494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0" y="2108200"/>
              <a:ext cx="9652000" cy="685800"/>
              <a:chOff x="0" y="0"/>
              <a:chExt cx="9652000" cy="685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177800" y="22352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2590800" y="22352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5003800" y="22352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grpSp>
          <p:nvGrpSpPr>
            <p:cNvPr name="Group 79" id="79"/>
            <p:cNvGrpSpPr/>
            <p:nvPr/>
          </p:nvGrpSpPr>
          <p:grpSpPr>
            <a:xfrm rot="0">
              <a:off x="0" y="2794000"/>
              <a:ext cx="9652000" cy="685800"/>
              <a:chOff x="0" y="0"/>
              <a:chExt cx="9652000" cy="6858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177800" y="29210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2590800" y="29210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5003800" y="29210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grpSp>
          <p:nvGrpSpPr>
            <p:cNvPr name="Group 85" id="85"/>
            <p:cNvGrpSpPr/>
            <p:nvPr/>
          </p:nvGrpSpPr>
          <p:grpSpPr>
            <a:xfrm rot="0">
              <a:off x="0" y="3479800"/>
              <a:ext cx="9652000" cy="685800"/>
              <a:chOff x="0" y="0"/>
              <a:chExt cx="9652000" cy="6858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9652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9652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8" id="88"/>
            <p:cNvSpPr txBox="true"/>
            <p:nvPr/>
          </p:nvSpPr>
          <p:spPr>
            <a:xfrm rot="0">
              <a:off x="177800" y="36068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2590800" y="3606800"/>
              <a:ext cx="2057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∞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5003800" y="3606800"/>
              <a:ext cx="447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Execution: Remaining Iterations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095500"/>
            <a:ext cx="10668000" cy="3638550"/>
            <a:chOff x="0" y="0"/>
            <a:chExt cx="14224000" cy="4851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4224000" cy="736600"/>
              <a:chOff x="0" y="0"/>
              <a:chExt cx="14224000" cy="736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224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224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77800" y="117475"/>
              <a:ext cx="1930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Event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463800" y="117475"/>
              <a:ext cx="3454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Heap entry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273800" y="117475"/>
              <a:ext cx="7772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Action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736600"/>
              <a:ext cx="14224000" cy="685800"/>
              <a:chOff x="0" y="0"/>
              <a:chExt cx="14224000" cy="685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22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422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77800" y="8636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463800" y="863600"/>
              <a:ext cx="345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(3, B)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273800" y="863600"/>
              <a:ext cx="7772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D: 6→4; E: ∞→10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1422400"/>
              <a:ext cx="14224000" cy="685800"/>
              <a:chOff x="0" y="0"/>
              <a:chExt cx="14224000" cy="685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22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422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77800" y="15494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463800" y="1549400"/>
              <a:ext cx="345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(4, B)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273800" y="1549400"/>
              <a:ext cx="7772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stale → skip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2108200"/>
              <a:ext cx="14224000" cy="685800"/>
              <a:chOff x="0" y="0"/>
              <a:chExt cx="14224000" cy="685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22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422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77800" y="22352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4b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463800" y="2235200"/>
              <a:ext cx="345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(4, D)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273800" y="2235200"/>
              <a:ext cx="7772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E: 10→7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2794000"/>
              <a:ext cx="14224000" cy="685800"/>
              <a:chOff x="0" y="0"/>
              <a:chExt cx="14224000" cy="685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22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422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77800" y="29210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5a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463800" y="2921000"/>
              <a:ext cx="345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(6, D)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273800" y="2921000"/>
              <a:ext cx="7772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stale → skip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0" y="3479800"/>
              <a:ext cx="14224000" cy="685800"/>
              <a:chOff x="0" y="0"/>
              <a:chExt cx="14224000" cy="685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422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422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77800" y="36068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5b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463800" y="3606800"/>
              <a:ext cx="345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(7, E)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6273800" y="3606800"/>
              <a:ext cx="7772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no outgoing edges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4165600"/>
              <a:ext cx="14224000" cy="685800"/>
              <a:chOff x="0" y="0"/>
              <a:chExt cx="14224000" cy="685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422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422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77800" y="4292600"/>
              <a:ext cx="1930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5c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463800" y="4292600"/>
              <a:ext cx="345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(10, E)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6273800" y="4292600"/>
              <a:ext cx="7772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stale → skip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573000" y="2390775"/>
            <a:ext cx="409575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2250" b="true">
                <a:solidFill>
                  <a:srgbClr val="8B7CFF"/>
                </a:solidFill>
                <a:latin typeface="Poppins Bold"/>
                <a:ea typeface="Poppins Bold"/>
                <a:cs typeface="Poppins Bold"/>
                <a:sym typeface="Poppins Bold"/>
              </a:rPr>
              <a:t>LAZY DELETION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73000" y="3009900"/>
            <a:ext cx="4095750" cy="171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Improved distances are inserted as new pairs. Older pairs are not removed immediately; they are recognized as stale when extracted.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573000" y="6210300"/>
            <a:ext cx="4095750" cy="120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Queue empty</a:t>
            </a:r>
          </a:p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→ stop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573000" y="8077200"/>
            <a:ext cx="409575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D85D68"/>
                </a:solidFill>
                <a:latin typeface="Roboto Mono"/>
                <a:ea typeface="Roboto Mono"/>
                <a:cs typeface="Roboto Mono"/>
                <a:sym typeface="Roboto Mono"/>
              </a:rPr>
              <a:t>Stale: (4, B), (6, D), (10, E)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Final Shortest Paths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209800" y="4581525"/>
            <a:ext cx="1885950" cy="0"/>
          </a:xfrm>
          <a:prstGeom prst="line">
            <a:avLst/>
          </a:prstGeom>
          <a:ln cap="rnd" w="85725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3143250" y="421005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4213D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</a:t>
            </a:r>
          </a:p>
        </p:txBody>
      </p:sp>
      <p:sp>
        <p:nvSpPr>
          <p:cNvPr name="AutoShape 9" id="9"/>
          <p:cNvSpPr/>
          <p:nvPr/>
        </p:nvSpPr>
        <p:spPr>
          <a:xfrm>
            <a:off x="4876800" y="4581525"/>
            <a:ext cx="1885950" cy="0"/>
          </a:xfrm>
          <a:prstGeom prst="line">
            <a:avLst/>
          </a:prstGeom>
          <a:ln cap="rnd" w="85725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5810250" y="421005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4213D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543800" y="4581525"/>
            <a:ext cx="1885950" cy="0"/>
          </a:xfrm>
          <a:prstGeom prst="line">
            <a:avLst/>
          </a:prstGeom>
          <a:ln cap="rnd" w="85725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8477250" y="421005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4213D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10800" y="4581525"/>
            <a:ext cx="1885950" cy="0"/>
          </a:xfrm>
          <a:prstGeom prst="line">
            <a:avLst/>
          </a:prstGeom>
          <a:ln cap="rnd" w="85725">
            <a:solidFill>
              <a:srgbClr val="28D7E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1144250" y="4210050"/>
            <a:ext cx="5524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4213D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4191000"/>
            <a:ext cx="781050" cy="781050"/>
            <a:chOff x="0" y="0"/>
            <a:chExt cx="1041400" cy="1041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55A6FF"/>
            </a:solidFill>
            <a:ln w="28575" cap="sq">
              <a:solidFill>
                <a:srgbClr val="55A6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95750" y="4191000"/>
            <a:ext cx="781050" cy="781050"/>
            <a:chOff x="0" y="0"/>
            <a:chExt cx="1041400" cy="104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62750" y="4191000"/>
            <a:ext cx="781050" cy="781050"/>
            <a:chOff x="0" y="0"/>
            <a:chExt cx="1041400" cy="104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0" y="4191000"/>
            <a:ext cx="781050" cy="781050"/>
            <a:chOff x="0" y="0"/>
            <a:chExt cx="1041400" cy="1041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96750" y="4191000"/>
            <a:ext cx="781050" cy="781050"/>
            <a:chOff x="0" y="0"/>
            <a:chExt cx="10414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520700" y="0"/>
                  </a:moveTo>
                  <a:cubicBezTo>
                    <a:pt x="808275" y="0"/>
                    <a:pt x="1041400" y="233125"/>
                    <a:pt x="1041400" y="520700"/>
                  </a:cubicBezTo>
                  <a:cubicBezTo>
                    <a:pt x="1041400" y="808275"/>
                    <a:pt x="808275" y="1041400"/>
                    <a:pt x="520700" y="1041400"/>
                  </a:cubicBezTo>
                  <a:cubicBezTo>
                    <a:pt x="233125" y="1041400"/>
                    <a:pt x="0" y="808275"/>
                    <a:pt x="0" y="520700"/>
                  </a:cubicBezTo>
                  <a:cubicBezTo>
                    <a:pt x="0" y="233125"/>
                    <a:pt x="233125" y="0"/>
                    <a:pt x="520700" y="0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41400" cy="10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19250" y="2409825"/>
            <a:ext cx="133350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A → C → B → D → 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9250" y="3114675"/>
            <a:ext cx="9525000" cy="37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cost = 1 + 2 + 1 + 3 = 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8750" y="6305550"/>
            <a:ext cx="8096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Parent chain:  E ← D ← B ← C ← A</a:t>
            </a:r>
          </a:p>
          <a:p>
            <a:pPr algn="l">
              <a:lnSpc>
                <a:spcPts val="3360"/>
              </a:lnSpc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Follow parents backward, then reverse.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668000" y="6191250"/>
            <a:ext cx="6191250" cy="3124200"/>
            <a:chOff x="0" y="0"/>
            <a:chExt cx="8255000" cy="41656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255000" cy="736600"/>
              <a:chOff x="0" y="0"/>
              <a:chExt cx="8255000" cy="7366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255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8255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77800" y="117475"/>
              <a:ext cx="2311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Vertex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844800" y="117475"/>
              <a:ext cx="2311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511800" y="117475"/>
              <a:ext cx="2565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parent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736600"/>
              <a:ext cx="8255000" cy="685800"/>
              <a:chOff x="0" y="0"/>
              <a:chExt cx="8255000" cy="685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25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8255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77800" y="8636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844800" y="8636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5511800" y="863600"/>
              <a:ext cx="2565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NIL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0" y="1422400"/>
              <a:ext cx="8255000" cy="685800"/>
              <a:chOff x="0" y="0"/>
              <a:chExt cx="8255000" cy="685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25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255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77800" y="15494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2844800" y="15494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5511800" y="1549400"/>
              <a:ext cx="2565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grpSp>
          <p:nvGrpSpPr>
            <p:cNvPr name="Group 52" id="52"/>
            <p:cNvGrpSpPr/>
            <p:nvPr/>
          </p:nvGrpSpPr>
          <p:grpSpPr>
            <a:xfrm rot="0">
              <a:off x="0" y="2108200"/>
              <a:ext cx="8255000" cy="685800"/>
              <a:chOff x="0" y="0"/>
              <a:chExt cx="8255000" cy="685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25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8255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177800" y="22352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2844800" y="22352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5511800" y="2235200"/>
              <a:ext cx="2565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0" y="2794000"/>
              <a:ext cx="8255000" cy="685800"/>
              <a:chOff x="0" y="0"/>
              <a:chExt cx="8255000" cy="6858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25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8255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177800" y="29210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844800" y="29210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5511800" y="2921000"/>
              <a:ext cx="2565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</a:p>
          </p:txBody>
        </p:sp>
        <p:grpSp>
          <p:nvGrpSpPr>
            <p:cNvPr name="Group 64" id="64"/>
            <p:cNvGrpSpPr/>
            <p:nvPr/>
          </p:nvGrpSpPr>
          <p:grpSpPr>
            <a:xfrm rot="0">
              <a:off x="0" y="3479800"/>
              <a:ext cx="8255000" cy="685800"/>
              <a:chOff x="0" y="0"/>
              <a:chExt cx="8255000" cy="685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25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255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177800" y="36068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844800" y="3606800"/>
              <a:ext cx="2311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7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5511800" y="3606800"/>
              <a:ext cx="2565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Time and Space Complexity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13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724025"/>
            <a:ext cx="952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2100" b="true">
                <a:solidFill>
                  <a:srgbClr val="55A6FF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Adjacency list + lazy binary min-heap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9250" y="1685925"/>
            <a:ext cx="381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35"/>
              </a:lnSpc>
            </a:pPr>
            <a:r>
              <a:rPr lang="en-US" sz="2100">
                <a:solidFill>
                  <a:srgbClr val="8B7CFF"/>
                </a:solidFill>
                <a:latin typeface="Roboto Mono"/>
                <a:ea typeface="Roboto Mono"/>
                <a:cs typeface="Roboto Mono"/>
                <a:sym typeface="Roboto Mono"/>
              </a:rPr>
              <a:t>SPACE  O(V + 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8343900"/>
            <a:ext cx="14287500" cy="31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Complexity depends on both graph representation and priority-queue choice.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2714625"/>
            <a:ext cx="16383000" cy="2095500"/>
            <a:chOff x="0" y="0"/>
            <a:chExt cx="21844000" cy="2794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1844000" cy="736600"/>
              <a:chOff x="0" y="0"/>
              <a:chExt cx="21844000" cy="736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844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4213D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1844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77800" y="117475"/>
              <a:ext cx="6248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781800" y="117475"/>
              <a:ext cx="5994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Time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131800" y="117475"/>
              <a:ext cx="85344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 for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736600"/>
              <a:ext cx="21844000" cy="685800"/>
              <a:chOff x="0" y="0"/>
              <a:chExt cx="21844000" cy="685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84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184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77800" y="863600"/>
              <a:ext cx="6248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Array (linear scan)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781800" y="863600"/>
              <a:ext cx="599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O(V²)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131800" y="863600"/>
              <a:ext cx="853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dense graphs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1422400"/>
              <a:ext cx="21844000" cy="685800"/>
              <a:chOff x="0" y="0"/>
              <a:chExt cx="21844000" cy="685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84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184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77800" y="1549400"/>
              <a:ext cx="6248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Binary heap + adjacency list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781800" y="1549400"/>
              <a:ext cx="599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O((V + E) log V)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3131800" y="1549400"/>
              <a:ext cx="853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sparse graphs; practical default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2108200"/>
              <a:ext cx="21844000" cy="685800"/>
              <a:chOff x="0" y="0"/>
              <a:chExt cx="21844000" cy="685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844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685800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184400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77800" y="2235200"/>
              <a:ext cx="6248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Fibonacci heap + adjacency list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781800" y="2235200"/>
              <a:ext cx="599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O(E + V log V) amortized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3131800" y="2235200"/>
              <a:ext cx="85344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theoretical; very large graphs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13D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Applications, Advantages and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55A6FF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476500"/>
            <a:ext cx="4762500" cy="5619750"/>
            <a:chOff x="0" y="0"/>
            <a:chExt cx="6350000" cy="7493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350000" cy="7493000"/>
              <a:chOff x="0" y="0"/>
              <a:chExt cx="6350000" cy="749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350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6350000" cy="152400"/>
              <a:chOff x="0" y="0"/>
              <a:chExt cx="6350000" cy="152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55A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35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71500" y="835025"/>
              <a:ext cx="5207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55A6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APPLICATIONS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71500" y="2162175"/>
              <a:ext cx="5207000" cy="174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5"/>
                </a:lnSpc>
              </a:pPr>
              <a:r>
                <a:rPr lang="en-US" sz="20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Routing and navigation</a:t>
              </a:r>
            </a:p>
            <a:p>
              <a:pPr algn="l">
                <a:lnSpc>
                  <a:spcPts val="3645"/>
                </a:lnSpc>
              </a:pPr>
              <a:r>
                <a:rPr lang="en-US" sz="20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Network packet paths</a:t>
              </a:r>
            </a:p>
            <a:p>
              <a:pPr algn="l">
                <a:lnSpc>
                  <a:spcPts val="3645"/>
                </a:lnSpc>
              </a:pPr>
              <a:r>
                <a:rPr lang="en-US" sz="20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Robotics and game maps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77000" y="2476500"/>
            <a:ext cx="4762500" cy="5619750"/>
            <a:chOff x="0" y="0"/>
            <a:chExt cx="6350000" cy="749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350000" cy="7493000"/>
              <a:chOff x="0" y="0"/>
              <a:chExt cx="6350000" cy="749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350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6350000" cy="152400"/>
              <a:chOff x="0" y="0"/>
              <a:chExt cx="6350000" cy="152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28D7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35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71500" y="835025"/>
              <a:ext cx="5207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28D7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ADVANTAGES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71500" y="2181225"/>
              <a:ext cx="5207000" cy="162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8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Optimal with non-negative weights</a:t>
              </a:r>
            </a:p>
            <a:p>
              <a:pPr algn="l">
                <a:lnSpc>
                  <a:spcPts val="3375"/>
                </a:lnSpc>
              </a:pPr>
              <a:r>
                <a:rPr lang="en-US" sz="18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Efficient on sparse graphs</a:t>
              </a:r>
            </a:p>
            <a:p>
              <a:pPr algn="l">
                <a:lnSpc>
                  <a:spcPts val="3375"/>
                </a:lnSpc>
              </a:pPr>
              <a:r>
                <a:rPr lang="en-US" sz="18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Parents reconstruct paths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01500" y="2476500"/>
            <a:ext cx="4762500" cy="5619750"/>
            <a:chOff x="0" y="0"/>
            <a:chExt cx="6350000" cy="7493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350000" cy="7493000"/>
              <a:chOff x="0" y="0"/>
              <a:chExt cx="6350000" cy="7493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CE6F1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350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6350000" cy="152400"/>
              <a:chOff x="0" y="0"/>
              <a:chExt cx="6350000" cy="152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00" cy="152400"/>
              </a:xfrm>
              <a:custGeom>
                <a:avLst/>
                <a:gdLst/>
                <a:ahLst/>
                <a:cxnLst/>
                <a:rect r="r" b="b" t="t" l="l"/>
                <a:pathLst>
                  <a:path h="1524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8B7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6350000" cy="19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571500" y="835025"/>
              <a:ext cx="5207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8B7C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LIMITATIONS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71500" y="2162175"/>
              <a:ext cx="5207000" cy="174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5"/>
                </a:lnSpc>
              </a:pPr>
              <a:r>
                <a:rPr lang="en-US" sz="20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No negative edge weights</a:t>
              </a:r>
            </a:p>
            <a:p>
              <a:pPr algn="l">
                <a:lnSpc>
                  <a:spcPts val="3645"/>
                </a:lnSpc>
              </a:pPr>
              <a:r>
                <a:rPr lang="en-US" sz="20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Lazy heap stores stale entries</a:t>
              </a:r>
            </a:p>
            <a:p>
              <a:pPr algn="l">
                <a:lnSpc>
                  <a:spcPts val="3645"/>
                </a:lnSpc>
              </a:pPr>
              <a:r>
                <a:rPr lang="en-US" sz="20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One source per run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09600"/>
            <a:ext cx="14287500" cy="63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and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73500" y="6858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28D7E5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81125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3415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841718"/>
            <a:ext cx="78105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DD9E8"/>
                </a:solidFill>
                <a:latin typeface="Inter"/>
                <a:ea typeface="Inter"/>
                <a:cs typeface="Inter"/>
                <a:sym typeface="Inter"/>
              </a:rPr>
              <a:t>Dijkstra finds optimal single-source paths when weights are non-negative. A min-heap makes selection efficient; the parent array reconstructs the route.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54768"/>
            <a:ext cx="7620000" cy="128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9FB0C5"/>
                </a:solidFill>
                <a:latin typeface="Inter"/>
                <a:ea typeface="Inter"/>
                <a:cs typeface="Inter"/>
                <a:sym typeface="Inter"/>
              </a:rPr>
              <a:t>REFERENCES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9FB0C5"/>
                </a:solidFill>
                <a:latin typeface="Inter"/>
                <a:ea typeface="Inter"/>
                <a:cs typeface="Inter"/>
                <a:sym typeface="Inter"/>
              </a:rPr>
              <a:t>Cormen et al., Introduction to Algorithms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9FB0C5"/>
                </a:solidFill>
                <a:latin typeface="Inter"/>
                <a:ea typeface="Inter"/>
                <a:cs typeface="Inter"/>
                <a:sym typeface="Inter"/>
              </a:rPr>
              <a:t>Sedgewick &amp; Wayne, Algorithms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9FB0C5"/>
                </a:solidFill>
                <a:latin typeface="Inter"/>
                <a:ea typeface="Inter"/>
                <a:cs typeface="Inter"/>
                <a:sym typeface="Inter"/>
              </a:rPr>
              <a:t>DAA course notes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2750" y="2695575"/>
            <a:ext cx="6191250" cy="95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450" b="true">
                <a:solidFill>
                  <a:srgbClr val="28D7E5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DAHYMFVLd8w</dc:identifier>
  <dcterms:modified xsi:type="dcterms:W3CDTF">2011-08-01T06:04:30Z</dcterms:modified>
  <cp:revision>1</cp:revision>
  <dc:title>Dijkstra’s Min-Heap Path</dc:title>
</cp:coreProperties>
</file>